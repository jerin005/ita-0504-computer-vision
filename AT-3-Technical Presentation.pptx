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Noto Sans" panose="020B0502040504020204" pitchFamily="34" charset="0"/>
      <p:regular r:id="rId9"/>
    </p:embeddedFont>
    <p:embeddedFont>
      <p:font typeface="Noto Sans 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3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7171" y="1111349"/>
            <a:ext cx="5299770" cy="1047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Quantization Noise in Digital Imaging</a:t>
            </a:r>
            <a:endParaRPr lang="en-US" sz="2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36199" y="2158607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Identifying its Impact and Graphical Analysis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314667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</a:t>
            </a:r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8F0DF-DC76-C9F0-2E58-FF29EBF00239}"/>
              </a:ext>
            </a:extLst>
          </p:cNvPr>
          <p:cNvSpPr txBox="1"/>
          <p:nvPr/>
        </p:nvSpPr>
        <p:spPr>
          <a:xfrm>
            <a:off x="2957733" y="3767518"/>
            <a:ext cx="2345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Jerin J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192425070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046"/>
            <a:ext cx="8151763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Introduction to Quantization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2191"/>
            <a:ext cx="3510781" cy="3618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98007" y="917674"/>
            <a:ext cx="4354562" cy="1635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Definition: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Quantization maps continuous intensity values to discrete digital levels.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Role: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Final step after sampling to produce pixel values for storage and processing.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Sampling vs Quantization: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Sampling fixes spatial coordinates; quantization discretizes amplitude (intensity).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Importance for CV: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Affects feature extraction, visual fidelity, and algorithmic robustness.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298007" y="2692003"/>
            <a:ext cx="4354562" cy="14288"/>
          </a:xfrm>
          <a:prstGeom prst="roundRect">
            <a:avLst>
              <a:gd name="adj" fmla="val 59998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298007" y="2844924"/>
            <a:ext cx="48117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Bit depth → Gray levels (examples)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298007" y="3125912"/>
            <a:ext cx="4354562" cy="1517228"/>
          </a:xfrm>
          <a:prstGeom prst="roundRect">
            <a:avLst>
              <a:gd name="adj" fmla="val 116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8007" y="3430786"/>
            <a:ext cx="4354562" cy="733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298007" y="3733279"/>
            <a:ext cx="4354562" cy="733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298007" y="4035772"/>
            <a:ext cx="4354562" cy="733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298007" y="4338265"/>
            <a:ext cx="4354562" cy="733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302770" y="3130674"/>
            <a:ext cx="1303511" cy="300112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3" name="Text 10"/>
          <p:cNvSpPr/>
          <p:nvPr/>
        </p:nvSpPr>
        <p:spPr>
          <a:xfrm>
            <a:off x="4420121" y="3193703"/>
            <a:ext cx="15260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Bit depth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06281" y="3130674"/>
            <a:ext cx="3041526" cy="300112"/>
          </a:xfrm>
          <a:prstGeom prst="rect">
            <a:avLst/>
          </a:prstGeom>
          <a:solidFill>
            <a:srgbClr val="97B8FF"/>
          </a:solidFill>
          <a:ln/>
        </p:spPr>
      </p:sp>
      <p:sp>
        <p:nvSpPr>
          <p:cNvPr id="15" name="Text 12"/>
          <p:cNvSpPr/>
          <p:nvPr/>
        </p:nvSpPr>
        <p:spPr>
          <a:xfrm>
            <a:off x="5723632" y="3193703"/>
            <a:ext cx="326402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Gray levels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420121" y="3496196"/>
            <a:ext cx="15260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2-bit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23632" y="3496196"/>
            <a:ext cx="326402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420121" y="3798689"/>
            <a:ext cx="15260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4-bit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723632" y="3798689"/>
            <a:ext cx="326402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420121" y="4101182"/>
            <a:ext cx="15260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8-bit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23632" y="4101182"/>
            <a:ext cx="326402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420121" y="4403675"/>
            <a:ext cx="152600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16-bit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23632" y="4403675"/>
            <a:ext cx="326402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65536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E8063C-7916-A9CB-04C5-70BE1214DE54}"/>
              </a:ext>
            </a:extLst>
          </p:cNvPr>
          <p:cNvSpPr txBox="1"/>
          <p:nvPr/>
        </p:nvSpPr>
        <p:spPr>
          <a:xfrm>
            <a:off x="7730197" y="4753629"/>
            <a:ext cx="137957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906"/>
            <a:ext cx="8151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Quantization Noise — What and Why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02" y="1244873"/>
            <a:ext cx="3908375" cy="2644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85200" y="2361149"/>
            <a:ext cx="826812" cy="32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Quantization Noise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148828" y="3115678"/>
            <a:ext cx="1058745" cy="1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ADC limitations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48828" y="3324696"/>
            <a:ext cx="1058745" cy="25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Converter resolution and linearity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7634" y="3034312"/>
            <a:ext cx="1058745" cy="32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Compression artifacts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7634" y="3406062"/>
            <a:ext cx="1058745" cy="25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Lossy codec quantization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67634" y="1466310"/>
            <a:ext cx="1058745" cy="325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Limited gray levels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7634" y="1838059"/>
            <a:ext cx="1058745" cy="256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Restricted tonal resolution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155608" y="1611773"/>
            <a:ext cx="1058745" cy="162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Low bit depth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155608" y="1820792"/>
            <a:ext cx="1058745" cy="128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Coarse discrete levels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6119" y="4038600"/>
            <a:ext cx="4153253" cy="790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Definition (simple):</a:t>
            </a: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Quantization Noise = Original Pixel Value − Quantized Pixel Value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44269" y="1085329"/>
            <a:ext cx="542553" cy="542553"/>
          </a:xfrm>
          <a:prstGeom prst="roundRect">
            <a:avLst>
              <a:gd name="adj" fmla="val 3797"/>
            </a:avLst>
          </a:prstGeom>
          <a:solidFill>
            <a:srgbClr val="4D4D5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358" y="1299939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53063" y="1085329"/>
            <a:ext cx="116227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Causes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5256142" y="1450297"/>
            <a:ext cx="1610920" cy="316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Low bit depth (coarse levels)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Analog-to-digital converter resolution and linearity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Compression quantization (lossy codecs)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Limited gray-level representation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037" y="1071337"/>
            <a:ext cx="542553" cy="54255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81727" y="1060457"/>
            <a:ext cx="1162273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Visual Example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491046" y="1680529"/>
            <a:ext cx="1414817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4-bit shows banding and stepped intensities;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8-bit preserves smooth gradients.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FD2F7-1EFA-1605-412D-7E697C91EEA3}"/>
              </a:ext>
            </a:extLst>
          </p:cNvPr>
          <p:cNvSpPr txBox="1"/>
          <p:nvPr/>
        </p:nvSpPr>
        <p:spPr>
          <a:xfrm>
            <a:off x="7743590" y="4690418"/>
            <a:ext cx="1344139" cy="42907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810"/>
            <a:ext cx="8151763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Impact and Graphical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0806" y="513941"/>
            <a:ext cx="860896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    </a:t>
            </a:r>
            <a:r>
              <a:rPr lang="en-US" sz="105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Effects on image quality</a:t>
            </a:r>
            <a:r>
              <a:rPr lang="en-US" sz="105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  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26486" y="694730"/>
            <a:ext cx="815176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Loss of fine details and texture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Banding / contouring in smooth gradients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Reduced contrast and dynamic nuance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Poor feature extraction → degraded recognition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13483"/>
            <a:ext cx="4400773" cy="30202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4378672"/>
            <a:ext cx="485797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Line chart (example): measured RMSE of quantization noise vs bit depth — noise falls rapidly with increased bits.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5308" y="1313483"/>
            <a:ext cx="3567261" cy="2706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5308" y="4065017"/>
            <a:ext cx="4024461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Staircase/quantization-level graph: visualizes discrete steps that produce banding in gradients.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96119" y="4570586"/>
            <a:ext cx="8151763" cy="9525"/>
          </a:xfrm>
          <a:prstGeom prst="roundRect">
            <a:avLst>
              <a:gd name="adj" fmla="val 60000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96119" y="4643884"/>
            <a:ext cx="8608963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Conclusion:</a:t>
            </a:r>
            <a:r>
              <a:rPr lang="en-US" sz="16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Higher bit depth significantly reduces quantization noise and visible banding.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654F03-CCC0-0CA7-4D7F-22CF8160EADB}"/>
              </a:ext>
            </a:extLst>
          </p:cNvPr>
          <p:cNvSpPr txBox="1"/>
          <p:nvPr/>
        </p:nvSpPr>
        <p:spPr>
          <a:xfrm>
            <a:off x="8046720" y="4736083"/>
            <a:ext cx="100584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412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Applications &amp; Noise Reduction Techniques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41561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Relevant Applications (icons below)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49635"/>
            <a:ext cx="310083" cy="310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1859" y="1249635"/>
            <a:ext cx="35622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Medical Imaging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41859" y="1508596"/>
            <a:ext cx="35622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Diagnostic fidelity requires low-noise quantization.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791" y="1249635"/>
            <a:ext cx="310083" cy="3100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5531" y="1249635"/>
            <a:ext cx="35623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Face Recognition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85531" y="1508596"/>
            <a:ext cx="35623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Feature details must be preserved for accurate matching.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911697"/>
            <a:ext cx="310083" cy="3100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1859" y="1911697"/>
            <a:ext cx="35622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OCR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41859" y="2170658"/>
            <a:ext cx="35622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Text strokes need high dynamic resolution to avoid misreads.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9791" y="1911697"/>
            <a:ext cx="310083" cy="3100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5531" y="1911697"/>
            <a:ext cx="35623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Autonomous Vehicles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085531" y="2170658"/>
            <a:ext cx="35623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Sensor quantization impacts perception and safety.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573759"/>
            <a:ext cx="310083" cy="31008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41859" y="2573759"/>
            <a:ext cx="35622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Satellite Imaging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941859" y="2832720"/>
            <a:ext cx="356227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Remote sensing requires fine radiometric precision.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791" y="2573759"/>
            <a:ext cx="310083" cy="31008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85531" y="2573759"/>
            <a:ext cx="35623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Security Surveillance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5085531" y="2832720"/>
            <a:ext cx="356235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Low-light quantization affects identification tasks.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496119" y="3171751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E0D6DE">
              <a:alpha val="50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496119" y="3339033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Times New Roman" panose="02020603050405020304" pitchFamily="18" charset="0"/>
                <a:ea typeface="Noto Sans Bold" pitchFamily="34" charset="-122"/>
                <a:cs typeface="Times New Roman" panose="02020603050405020304" pitchFamily="18" charset="0"/>
              </a:rPr>
              <a:t>Noise reduction strategies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496119" y="3647108"/>
            <a:ext cx="8151763" cy="1081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93040" indent="-19304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Increase bit depth and use higher-resolution ADCs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Apply dithering to decorrelate quantization error from signal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Use image enhancement and adaptive contrast techniques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Design compression-aware quantizers (rate-distortion optimized)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040" indent="-193040" algn="l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Post-filtering (edge-preserving denoisers, bilateral filters)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74B75B-D4B6-D6D5-AF0A-73E7DC1F4871}"/>
              </a:ext>
            </a:extLst>
          </p:cNvPr>
          <p:cNvSpPr txBox="1"/>
          <p:nvPr/>
        </p:nvSpPr>
        <p:spPr>
          <a:xfrm>
            <a:off x="7877908" y="4670474"/>
            <a:ext cx="1227174" cy="39243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570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Conclusion &amp; Key Takeaways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27285"/>
            <a:ext cx="2327672" cy="2339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4201" y="1121941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6612" y="1532260"/>
            <a:ext cx="2046684" cy="59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Quantization converts continuous intensities into discrete levels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5097" y="2629050"/>
            <a:ext cx="204668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Essential for digital representation but introduces error.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6230" y="1068067"/>
            <a:ext cx="2327672" cy="2244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4312" y="1121941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076724" y="1532260"/>
            <a:ext cx="2046684" cy="59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Quantization noise is unavoidable but manageable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076724" y="2571750"/>
            <a:ext cx="2046684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Design choices (bit depth, ADC, dithering) control its impact.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573587"/>
            <a:ext cx="4767783" cy="1146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04220" y="2965996"/>
            <a:ext cx="151507" cy="189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22325" y="3949377"/>
            <a:ext cx="448679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E0D6DE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Higher bit depth → markedly better image fidelity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33326" y="4321630"/>
            <a:ext cx="448679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Reduces RMSE and visible banding; improves CV performance.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25" y="4334173"/>
            <a:ext cx="157758" cy="1262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289" y="4276725"/>
            <a:ext cx="4688607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576739" y="1327243"/>
            <a:ext cx="307583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dirty="0">
                <a:solidFill>
                  <a:srgbClr val="97B8FF"/>
                </a:solidFill>
                <a:latin typeface="Times New Roman" panose="02020603050405020304" pitchFamily="18" charset="0"/>
                <a:ea typeface="Sora Medium" pitchFamily="34" charset="-122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654111" y="2067611"/>
            <a:ext cx="3075831" cy="928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        - Gonzalez, R. C., &amp; Woods, R. E., </a:t>
            </a:r>
            <a:r>
              <a:rPr lang="en-US" sz="1100" i="1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Digital Image Processing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(4th Ed.)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        - Szeliski, R., </a:t>
            </a:r>
            <a:r>
              <a:rPr lang="en-US" sz="1100" i="1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Computer Vision: Algorithms and Applications</a:t>
            </a:r>
            <a:r>
              <a:rPr lang="en-US" sz="1100" dirty="0">
                <a:solidFill>
                  <a:srgbClr val="E0D6DE"/>
                </a:solidFill>
                <a:latin typeface="Times New Roman" panose="02020603050405020304" pitchFamily="18" charset="0"/>
                <a:ea typeface="Noto Sans" pitchFamily="34" charset="-122"/>
                <a:cs typeface="Times New Roman" panose="02020603050405020304" pitchFamily="18" charset="0"/>
              </a:rPr>
              <a:t> (2nd Ed.)      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077BC-C074-FD4B-3C7D-A4CAFECCFBAB}"/>
              </a:ext>
            </a:extLst>
          </p:cNvPr>
          <p:cNvSpPr txBox="1"/>
          <p:nvPr/>
        </p:nvSpPr>
        <p:spPr>
          <a:xfrm>
            <a:off x="7877908" y="4719712"/>
            <a:ext cx="121685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472</Words>
  <Application>Microsoft Office PowerPoint</Application>
  <PresentationFormat>On-screen Show (16:9)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Noto Sans</vt:lpstr>
      <vt:lpstr>Noto Sans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JERIN. J</dc:creator>
  <cp:lastModifiedBy>JERIN. J</cp:lastModifiedBy>
  <cp:revision>3</cp:revision>
  <dcterms:created xsi:type="dcterms:W3CDTF">2026-07-20T17:06:17Z</dcterms:created>
  <dcterms:modified xsi:type="dcterms:W3CDTF">2026-07-20T17:22:50Z</dcterms:modified>
</cp:coreProperties>
</file>